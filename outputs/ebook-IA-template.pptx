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7" r:id="rId2"/>
    <p:sldId id="256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56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74A7"/>
    <a:srgbClr val="0B2327"/>
    <a:srgbClr val="FFD445"/>
    <a:srgbClr val="9AF4DC"/>
    <a:srgbClr val="4086C0"/>
    <a:srgbClr val="B7F9FB"/>
    <a:srgbClr val="F2E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>
        <p:scale>
          <a:sx n="50" d="100"/>
          <a:sy n="50" d="100"/>
        </p:scale>
        <p:origin x="1824" y="-1332"/>
      </p:cViewPr>
      <p:guideLst>
        <p:guide orient="horz" pos="4056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E90E6-AD86-42DF-9645-F4FE003EB793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2D9EE-B4F2-4493-BE1F-528FA04268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52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D9EE-B4F2-4493-BE1F-528FA042685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7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7424-60E9-10E7-AF6F-5D06C450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40A522C-ED1B-E2DC-03D9-F0465A690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6F51F8-2BA7-9B19-2B74-DF56998D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9854D1-0366-F4F9-AAA9-EFA5DDE5D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D9EE-B4F2-4493-BE1F-528FA042685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81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BAEB-B731-A164-4C47-CD572D18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594A22-B0D0-C70B-44E8-0970806B9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9D2CD40-8548-2D05-BC36-365A81A63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B4F21C-77EE-C4D8-0D27-F2B29016F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D9EE-B4F2-4493-BE1F-528FA042685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450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43EF1-E159-1BD0-8C09-6025B064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E8EF7A-4BA7-3EDC-A6ED-A2C5497A4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4308CF-079B-8910-DBC3-53A28490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A5AFBA-0BD6-BF74-8177-7D984B3ED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D9EE-B4F2-4493-BE1F-528FA042685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35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AAA7-A071-FFAC-DA07-382AEB08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8021E4-7BB7-3C21-16B4-BB0DC2F05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D672625-2CE1-54F8-B75E-5730FE4FD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A9DDD-FCC6-DB2E-D161-9A86969E3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D9EE-B4F2-4493-BE1F-528FA042685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20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0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3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0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92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4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86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30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44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98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56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55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F30C0-194A-4A7D-B552-BC1E6EECC71B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EEB2B-29C6-4EFE-9A28-6090FBC6F8C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19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1A66-BA8D-7804-0D93-9F6158FA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velho, grande, mesa, coberto&#10;&#10;O conteúdo gerado por IA pode estar incorreto.">
            <a:extLst>
              <a:ext uri="{FF2B5EF4-FFF2-40B4-BE49-F238E27FC236}">
                <a16:creationId xmlns:a16="http://schemas.microsoft.com/office/drawing/2014/main" id="{AC574C8B-C6DA-6C88-D7F5-20367CD4D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5371"/>
            <a:ext cx="9601200" cy="9601200"/>
          </a:xfrm>
          <a:prstGeom prst="rect">
            <a:avLst/>
          </a:prstGeom>
        </p:spPr>
      </p:pic>
      <p:pic>
        <p:nvPicPr>
          <p:cNvPr id="7" name="Imagem 6" descr="Uma imagem contendo olhando, mesa, bolo, vista&#10;&#10;O conteúdo gerado por IA pode estar incorreto.">
            <a:extLst>
              <a:ext uri="{FF2B5EF4-FFF2-40B4-BE49-F238E27FC236}">
                <a16:creationId xmlns:a16="http://schemas.microsoft.com/office/drawing/2014/main" id="{642938E6-B7E9-A314-3DF4-6502E032B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42" y="1579108"/>
            <a:ext cx="9601200" cy="9601200"/>
          </a:xfrm>
          <a:prstGeom prst="rect">
            <a:avLst/>
          </a:prstGeom>
        </p:spPr>
      </p:pic>
      <p:pic>
        <p:nvPicPr>
          <p:cNvPr id="2" name="Imagem 1" descr="Logotipo, Ícone&#10;&#10;O conteúdo gerado por IA pode estar incorreto.">
            <a:extLst>
              <a:ext uri="{FF2B5EF4-FFF2-40B4-BE49-F238E27FC236}">
                <a16:creationId xmlns:a16="http://schemas.microsoft.com/office/drawing/2014/main" id="{74E47CB7-EFC4-712B-8211-0AF26EA4D5F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10137" y="1045029"/>
            <a:ext cx="7509933" cy="42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9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316C597-EBD5-4D85-3F21-F2B713BA4C6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B2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E7EA9BC-FD2A-7ECA-0AD6-6CC69026B2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423" r="18670"/>
          <a:stretch>
            <a:fillRect/>
          </a:stretch>
        </p:blipFill>
        <p:spPr>
          <a:xfrm>
            <a:off x="-2109258" y="-205708"/>
            <a:ext cx="14306550" cy="13213015"/>
          </a:xfrm>
          <a:prstGeom prst="rect">
            <a:avLst/>
          </a:prstGeom>
        </p:spPr>
      </p:pic>
      <p:pic>
        <p:nvPicPr>
          <p:cNvPr id="5" name="Imagem 4" descr="Uma imagem contendo velho, grande, mesa, coberto&#10;&#10;O conteúdo gerado por IA pode estar incorreto.">
            <a:extLst>
              <a:ext uri="{FF2B5EF4-FFF2-40B4-BE49-F238E27FC236}">
                <a16:creationId xmlns:a16="http://schemas.microsoft.com/office/drawing/2014/main" id="{B3F7AA75-D34F-E742-0467-2F232FCD888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7" r="9282"/>
          <a:stretch>
            <a:fillRect/>
          </a:stretch>
        </p:blipFill>
        <p:spPr>
          <a:xfrm>
            <a:off x="1050566" y="1959516"/>
            <a:ext cx="7500064" cy="927403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7FEB0D-8C74-A4AA-6E59-EFF7318B02CD}"/>
              </a:ext>
            </a:extLst>
          </p:cNvPr>
          <p:cNvSpPr txBox="1"/>
          <p:nvPr/>
        </p:nvSpPr>
        <p:spPr>
          <a:xfrm>
            <a:off x="262724" y="347019"/>
            <a:ext cx="90757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effectLst>
                  <a:glow rad="152400">
                    <a:srgbClr val="3774A7"/>
                  </a:glow>
                </a:effectLst>
                <a:latin typeface="Amasis MT Pro Black" panose="020F0502020204030204" pitchFamily="18" charset="0"/>
              </a:rPr>
              <a:t>Serpente Arcana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036828E-611F-65F9-3355-935FD1837DC4}"/>
              </a:ext>
            </a:extLst>
          </p:cNvPr>
          <p:cNvSpPr/>
          <p:nvPr/>
        </p:nvSpPr>
        <p:spPr>
          <a:xfrm>
            <a:off x="0" y="10210800"/>
            <a:ext cx="9601200" cy="1323439"/>
          </a:xfrm>
          <a:prstGeom prst="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D64883-CF67-FA93-643D-5B99FACCF006}"/>
              </a:ext>
            </a:extLst>
          </p:cNvPr>
          <p:cNvSpPr txBox="1"/>
          <p:nvPr/>
        </p:nvSpPr>
        <p:spPr>
          <a:xfrm>
            <a:off x="494243" y="10291989"/>
            <a:ext cx="8612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masis MT Pro Light" panose="020F0502020204030204" pitchFamily="18" charset="0"/>
              </a:rPr>
              <a:t>Domine os segredos dos dados e desperte o poder do Python na Ciência de Dados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F8CDBB4-FC82-3984-CEE5-D1CBC86F766B}"/>
              </a:ext>
            </a:extLst>
          </p:cNvPr>
          <p:cNvSpPr txBox="1"/>
          <p:nvPr/>
        </p:nvSpPr>
        <p:spPr>
          <a:xfrm>
            <a:off x="525452" y="1489218"/>
            <a:ext cx="8550292" cy="70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FFD445"/>
                </a:solidFill>
                <a:effectLst>
                  <a:glow>
                    <a:schemeClr val="bg1">
                      <a:alpha val="57000"/>
                    </a:schemeClr>
                  </a:glow>
                </a:effectLst>
                <a:latin typeface="Amasis MT Pro" panose="020F0502020204030204" pitchFamily="18" charset="0"/>
                <a:cs typeface="Aldhabi" panose="020F0502020204030204" pitchFamily="2" charset="-78"/>
              </a:rPr>
              <a:t>Código e Destino em Python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DD8CF94-5E9F-A1CD-2BB0-EE01E114651B}"/>
              </a:ext>
            </a:extLst>
          </p:cNvPr>
          <p:cNvSpPr txBox="1"/>
          <p:nvPr/>
        </p:nvSpPr>
        <p:spPr>
          <a:xfrm>
            <a:off x="2288633" y="11620158"/>
            <a:ext cx="50863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 dirty="0">
                <a:solidFill>
                  <a:srgbClr val="FFD445"/>
                </a:solidFill>
                <a:latin typeface="Amasis MT Pro" panose="02040504050005020304" pitchFamily="18" charset="0"/>
              </a:rPr>
              <a:t>Lídia Bahia</a:t>
            </a:r>
          </a:p>
        </p:txBody>
      </p:sp>
      <p:pic>
        <p:nvPicPr>
          <p:cNvPr id="20" name="Imagem 19" descr="Logotipo, Ícone&#10;&#10;O conteúdo gerado por IA pode estar incorreto.">
            <a:extLst>
              <a:ext uri="{FF2B5EF4-FFF2-40B4-BE49-F238E27FC236}">
                <a16:creationId xmlns:a16="http://schemas.microsoft.com/office/drawing/2014/main" id="{1601AE25-25B4-E957-B34D-85885C20609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1701" y="1200160"/>
            <a:ext cx="7509933" cy="4224337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D75724C5-C829-5FB3-CD63-372AE7E98176}"/>
              </a:ext>
            </a:extLst>
          </p:cNvPr>
          <p:cNvSpPr/>
          <p:nvPr/>
        </p:nvSpPr>
        <p:spPr>
          <a:xfrm>
            <a:off x="-228940" y="10872519"/>
            <a:ext cx="1075535" cy="999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C1022C0-8A8F-F81F-A383-93F6526A3617}"/>
              </a:ext>
            </a:extLst>
          </p:cNvPr>
          <p:cNvSpPr/>
          <p:nvPr/>
        </p:nvSpPr>
        <p:spPr>
          <a:xfrm>
            <a:off x="8973646" y="9792001"/>
            <a:ext cx="1075535" cy="999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34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D5AD3DE3-5ED5-20D0-F033-537042A5CB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08590B-6B52-4254-DAA0-2FFC394CC579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1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D7F3899-9EBC-D671-E1C7-193695245782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C0D28F2-60C6-A639-9D12-C9309F6F49DC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C7F089-D317-9773-88D3-CFE873534CBB}"/>
              </a:ext>
            </a:extLst>
          </p:cNvPr>
          <p:cNvSpPr txBox="1"/>
          <p:nvPr/>
        </p:nvSpPr>
        <p:spPr>
          <a:xfrm>
            <a:off x="419100" y="971550"/>
            <a:ext cx="556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INTRODUÇÃO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228AD1-4737-E664-192D-56B461A18F59}"/>
              </a:ext>
            </a:extLst>
          </p:cNvPr>
          <p:cNvSpPr txBox="1"/>
          <p:nvPr/>
        </p:nvSpPr>
        <p:spPr>
          <a:xfrm>
            <a:off x="479955" y="3132698"/>
            <a:ext cx="8641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masis MT Pro" panose="02040504050005020304" pitchFamily="18" charset="0"/>
              </a:rPr>
              <a:t>	</a:t>
            </a:r>
            <a:r>
              <a:rPr lang="pt-BR" sz="2800" dirty="0">
                <a:latin typeface="Amasis MT Pro" panose="02040504050005020304" pitchFamily="18" charset="0"/>
              </a:rPr>
              <a:t>Python se tornou uma das linguagens mais importantes no ecossistema de </a:t>
            </a:r>
            <a:r>
              <a:rPr lang="pt-BR" sz="2800" b="1" dirty="0">
                <a:solidFill>
                  <a:srgbClr val="FFC000"/>
                </a:solidFill>
                <a:latin typeface="Amasis MT Pro" panose="02040504050005020304" pitchFamily="18" charset="0"/>
              </a:rPr>
              <a:t>Ciência de Dados</a:t>
            </a:r>
            <a:r>
              <a:rPr lang="pt-BR" sz="2800" dirty="0">
                <a:latin typeface="Amasis MT Pro" panose="02040504050005020304" pitchFamily="18" charset="0"/>
              </a:rPr>
              <a:t>. Ela combina simplicidade na sintaxe com um conjunto robusto de bibliotecas que permitem: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7B46438-E00A-2CD0-92C6-4EAEAF222EF6}"/>
              </a:ext>
            </a:extLst>
          </p:cNvPr>
          <p:cNvSpPr txBox="1"/>
          <p:nvPr/>
        </p:nvSpPr>
        <p:spPr>
          <a:xfrm>
            <a:off x="1461030" y="5195887"/>
            <a:ext cx="66791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manipular dados,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criar visualizações,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treinar modelos de Machine Learning,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e integrar análises usando SQL.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8F2D75-855B-3F51-5D9D-AACE5C896E49}"/>
              </a:ext>
            </a:extLst>
          </p:cNvPr>
          <p:cNvSpPr txBox="1"/>
          <p:nvPr/>
        </p:nvSpPr>
        <p:spPr>
          <a:xfrm>
            <a:off x="630236" y="7479953"/>
            <a:ext cx="84301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masis MT Pro" panose="02040504050005020304" pitchFamily="18" charset="0"/>
              </a:rPr>
              <a:t>Este material apresenta uma visão objetiva das principais ferramentas no fluxo de trabalho em Data Science com Python.</a:t>
            </a:r>
          </a:p>
        </p:txBody>
      </p:sp>
    </p:spTree>
    <p:extLst>
      <p:ext uri="{BB962C8B-B14F-4D97-AF65-F5344CB8AC3E}">
        <p14:creationId xmlns:p14="http://schemas.microsoft.com/office/powerpoint/2010/main" val="239201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7C98-746F-839B-BB17-221EF9EB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AFE736F2-3E4C-6944-E14E-4C94220C82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45C733C-E641-B3FF-2E86-7ECADFD21C05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2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2E2F1C7-B3AE-3715-47C4-B61E3669F606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51FAFF3-3CC5-CC3E-DCCA-E238BEA81996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BB4DFB6-A5A2-C273-6282-119D39CBAF51}"/>
              </a:ext>
            </a:extLst>
          </p:cNvPr>
          <p:cNvSpPr txBox="1"/>
          <p:nvPr/>
        </p:nvSpPr>
        <p:spPr>
          <a:xfrm>
            <a:off x="457200" y="933450"/>
            <a:ext cx="7143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1. Por que Python na Ciência de Dados?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419986-3BED-9FD3-C176-F7A83138308D}"/>
              </a:ext>
            </a:extLst>
          </p:cNvPr>
          <p:cNvSpPr txBox="1"/>
          <p:nvPr/>
        </p:nvSpPr>
        <p:spPr>
          <a:xfrm>
            <a:off x="457200" y="3704688"/>
            <a:ext cx="876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masis MT Pro" panose="02040504050005020304" pitchFamily="18" charset="0"/>
              </a:rPr>
              <a:t>	Python é adotado no mundo inteiro por analistas, cientistas de dados e engenheiros por três motivos principais: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5773212-D669-62CA-0711-66875AE40687}"/>
              </a:ext>
            </a:extLst>
          </p:cNvPr>
          <p:cNvSpPr txBox="1"/>
          <p:nvPr/>
        </p:nvSpPr>
        <p:spPr>
          <a:xfrm>
            <a:off x="1485900" y="5414425"/>
            <a:ext cx="75744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</a:t>
            </a:r>
            <a:r>
              <a:rPr lang="pt-BR" sz="2800" dirty="0">
                <a:latin typeface="Amasis MT Pro" panose="02040504050005020304" pitchFamily="18" charset="0"/>
              </a:rPr>
              <a:t> Curva de aprendizado amigável</a:t>
            </a:r>
          </a:p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</a:t>
            </a:r>
            <a:r>
              <a:rPr lang="pt-BR" sz="2800" dirty="0">
                <a:latin typeface="Amasis MT Pro" panose="02040504050005020304" pitchFamily="18" charset="0"/>
              </a:rPr>
              <a:t> Comunidade enorme e ativa</a:t>
            </a:r>
          </a:p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</a:t>
            </a:r>
            <a:r>
              <a:rPr lang="pt-BR" sz="2800" dirty="0">
                <a:latin typeface="Amasis MT Pro" panose="02040504050005020304" pitchFamily="18" charset="0"/>
              </a:rPr>
              <a:t> Ecossistema rico de pacotes orientados a dados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7E52C6-2732-1027-7A01-4847077DA7A9}"/>
              </a:ext>
            </a:extLst>
          </p:cNvPr>
          <p:cNvSpPr txBox="1"/>
          <p:nvPr/>
        </p:nvSpPr>
        <p:spPr>
          <a:xfrm>
            <a:off x="914399" y="7593149"/>
            <a:ext cx="6800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masis MT Pro" panose="02040504050005020304" pitchFamily="18" charset="0"/>
              </a:rPr>
              <a:t>Algumas áreas em que Python se destaca: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0DEB56-FFA3-CE2B-162F-DB13010EEC6C}"/>
              </a:ext>
            </a:extLst>
          </p:cNvPr>
          <p:cNvSpPr txBox="1"/>
          <p:nvPr/>
        </p:nvSpPr>
        <p:spPr>
          <a:xfrm>
            <a:off x="1485900" y="8410038"/>
            <a:ext cx="70601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Análise exploratória de dados (EDA),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Automação de processos,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Engenharia de atributos,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Modelos de previsão,</a:t>
            </a:r>
          </a:p>
          <a:p>
            <a:pPr algn="just"/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Dashboards e </a:t>
            </a:r>
            <a:r>
              <a:rPr lang="pt-BR" sz="2800" dirty="0" err="1">
                <a:latin typeface="Amasis MT Pro" panose="02040504050005020304" pitchFamily="18" charset="0"/>
              </a:rPr>
              <a:t>storytelling</a:t>
            </a:r>
            <a:r>
              <a:rPr lang="pt-BR" sz="2800" dirty="0">
                <a:latin typeface="Amasis MT Pro" panose="02040504050005020304" pitchFamily="18" charset="0"/>
              </a:rPr>
              <a:t> de dados</a:t>
            </a:r>
          </a:p>
        </p:txBody>
      </p:sp>
    </p:spTree>
    <p:extLst>
      <p:ext uri="{BB962C8B-B14F-4D97-AF65-F5344CB8AC3E}">
        <p14:creationId xmlns:p14="http://schemas.microsoft.com/office/powerpoint/2010/main" val="2561164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4B64-842B-339C-3BB5-4C0603A2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79C0AC77-D58D-7B7E-AA5D-3E141C73D9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333082-E854-1B24-3F0E-98B0D70DF932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D2A49F1-303B-7B80-A2D1-63495184D356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0CF6559-E7B7-5D68-B303-C9DBEA98548C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0AF1DE-BEFD-281A-99EB-A3C6B89CC691}"/>
              </a:ext>
            </a:extLst>
          </p:cNvPr>
          <p:cNvSpPr txBox="1"/>
          <p:nvPr/>
        </p:nvSpPr>
        <p:spPr>
          <a:xfrm>
            <a:off x="628649" y="762000"/>
            <a:ext cx="64389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2. Pacotes Essenciais no Fluxo de Análise de Dados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80F5178-C71D-22B9-65BB-70C0F21B1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08683"/>
              </p:ext>
            </p:extLst>
          </p:nvPr>
        </p:nvGraphicFramePr>
        <p:xfrm>
          <a:off x="628649" y="4986337"/>
          <a:ext cx="8431742" cy="3787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1">
                  <a:extLst>
                    <a:ext uri="{9D8B030D-6E8A-4147-A177-3AD203B41FA5}">
                      <a16:colId xmlns:a16="http://schemas.microsoft.com/office/drawing/2014/main" val="1945800060"/>
                    </a:ext>
                  </a:extLst>
                </a:gridCol>
                <a:gridCol w="4215871">
                  <a:extLst>
                    <a:ext uri="{9D8B030D-6E8A-4147-A177-3AD203B41FA5}">
                      <a16:colId xmlns:a16="http://schemas.microsoft.com/office/drawing/2014/main" val="992884934"/>
                    </a:ext>
                  </a:extLst>
                </a:gridCol>
              </a:tblGrid>
              <a:tr h="58395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Biblioteca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Uso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16954"/>
                  </a:ext>
                </a:extLst>
              </a:tr>
              <a:tr h="133965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Leitura, limpeza, transformação e análise de dados tabulares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025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Numpy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Operações matemáticas e vetorização de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118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Polars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(alternativa opcional)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Consultas mais rápidas em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datasets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grandes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84078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869251B-57CF-87DD-0FC3-849F979EC1D1}"/>
              </a:ext>
            </a:extLst>
          </p:cNvPr>
          <p:cNvSpPr txBox="1"/>
          <p:nvPr/>
        </p:nvSpPr>
        <p:spPr>
          <a:xfrm>
            <a:off x="933451" y="4309810"/>
            <a:ext cx="6686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Manipulação e Análise de Dados:</a:t>
            </a:r>
          </a:p>
        </p:txBody>
      </p:sp>
    </p:spTree>
    <p:extLst>
      <p:ext uri="{BB962C8B-B14F-4D97-AF65-F5344CB8AC3E}">
        <p14:creationId xmlns:p14="http://schemas.microsoft.com/office/powerpoint/2010/main" val="99540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F859-E0E0-6839-5B8D-23761487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BA5047A4-3DB0-2379-70DA-CC433DEC11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65AE491-63D1-E986-C872-9B96520913D0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BE6DCA1-9D92-84F2-0E31-A18B374F0558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62D75F3-2BA6-240D-9389-5C23EE257006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1115F4C-2096-E14B-43F3-942E0A590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34786"/>
              </p:ext>
            </p:extLst>
          </p:nvPr>
        </p:nvGraphicFramePr>
        <p:xfrm>
          <a:off x="495298" y="1545177"/>
          <a:ext cx="8431742" cy="4719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1">
                  <a:extLst>
                    <a:ext uri="{9D8B030D-6E8A-4147-A177-3AD203B41FA5}">
                      <a16:colId xmlns:a16="http://schemas.microsoft.com/office/drawing/2014/main" val="1945800060"/>
                    </a:ext>
                  </a:extLst>
                </a:gridCol>
                <a:gridCol w="4215871">
                  <a:extLst>
                    <a:ext uri="{9D8B030D-6E8A-4147-A177-3AD203B41FA5}">
                      <a16:colId xmlns:a16="http://schemas.microsoft.com/office/drawing/2014/main" val="992884934"/>
                    </a:ext>
                  </a:extLst>
                </a:gridCol>
              </a:tblGrid>
              <a:tr h="58395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Biblioteca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O que oferece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16954"/>
                  </a:ext>
                </a:extLst>
              </a:tr>
              <a:tr h="133965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Matplotlib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Gráficos base, personalizáveis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025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Seaborn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Visualizações estatísticas de alto nível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118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Plotly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Gráficos interativos e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84078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Bokeh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/ Altair (opcionais)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Visualizações orientadas a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insigths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rápidos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44132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FF401955-F5F3-6BCE-0E29-3902E1C55A58}"/>
              </a:ext>
            </a:extLst>
          </p:cNvPr>
          <p:cNvSpPr txBox="1"/>
          <p:nvPr/>
        </p:nvSpPr>
        <p:spPr>
          <a:xfrm>
            <a:off x="800100" y="868650"/>
            <a:ext cx="6686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Visualização e </a:t>
            </a:r>
            <a:r>
              <a:rPr lang="pt-BR" sz="2800" dirty="0" err="1">
                <a:latin typeface="Amasis MT Pro" panose="02040504050005020304" pitchFamily="18" charset="0"/>
              </a:rPr>
              <a:t>Storytelling</a:t>
            </a:r>
            <a:r>
              <a:rPr lang="pt-BR" sz="2800" dirty="0">
                <a:latin typeface="Amasis MT Pro" panose="02040504050005020304" pitchFamily="18" charset="0"/>
              </a:rPr>
              <a:t> de Dados: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8764776-BFF5-5845-2F5E-0F40D4F06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15" y="8172451"/>
            <a:ext cx="7521674" cy="259079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1468D0-03EC-6083-24ED-05F24B57FC86}"/>
              </a:ext>
            </a:extLst>
          </p:cNvPr>
          <p:cNvSpPr txBox="1"/>
          <p:nvPr/>
        </p:nvSpPr>
        <p:spPr>
          <a:xfrm>
            <a:off x="552450" y="7023253"/>
            <a:ext cx="79935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masis MT Pro" panose="02040504050005020304" pitchFamily="18" charset="0"/>
              </a:rPr>
              <a:t>	Exemplo simples de código para geração de gráfico:</a:t>
            </a:r>
          </a:p>
        </p:txBody>
      </p:sp>
    </p:spTree>
    <p:extLst>
      <p:ext uri="{BB962C8B-B14F-4D97-AF65-F5344CB8AC3E}">
        <p14:creationId xmlns:p14="http://schemas.microsoft.com/office/powerpoint/2010/main" val="249609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67EB-A5CA-FFD1-2ED2-4513CF1C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EDCFF5D4-F3E4-4661-E252-316D5B9D90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D125091-F613-ECA9-FB4A-C527533D6508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5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FE3530A-E12B-FEE5-0199-1159402F68BC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465FE0B-CC4F-1F49-CF88-94612B0F0735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CEEAE2-ADCE-20D5-EDC7-48C5D9CEF524}"/>
              </a:ext>
            </a:extLst>
          </p:cNvPr>
          <p:cNvSpPr txBox="1"/>
          <p:nvPr/>
        </p:nvSpPr>
        <p:spPr>
          <a:xfrm>
            <a:off x="628649" y="762000"/>
            <a:ext cx="66865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3. Uso de SQL dentro do Python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2419A1E-381A-361E-0650-C9C1D4F18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36898"/>
              </p:ext>
            </p:extLst>
          </p:nvPr>
        </p:nvGraphicFramePr>
        <p:xfrm>
          <a:off x="628648" y="5712023"/>
          <a:ext cx="8431742" cy="4976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1">
                  <a:extLst>
                    <a:ext uri="{9D8B030D-6E8A-4147-A177-3AD203B41FA5}">
                      <a16:colId xmlns:a16="http://schemas.microsoft.com/office/drawing/2014/main" val="1945800060"/>
                    </a:ext>
                  </a:extLst>
                </a:gridCol>
                <a:gridCol w="4215871">
                  <a:extLst>
                    <a:ext uri="{9D8B030D-6E8A-4147-A177-3AD203B41FA5}">
                      <a16:colId xmlns:a16="http://schemas.microsoft.com/office/drawing/2014/main" val="992884934"/>
                    </a:ext>
                  </a:extLst>
                </a:gridCol>
              </a:tblGrid>
              <a:tr h="583954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masis MT Pro Black" panose="02040A04050005020304" pitchFamily="18" charset="0"/>
                        </a:rPr>
                        <a:t>Como funciona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016954"/>
                  </a:ext>
                </a:extLst>
              </a:tr>
              <a:tr h="133965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SQLite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+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SQLAIchemy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Banco local embutido em arquivo .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db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025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Pandas +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read_sql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Executa queries direto no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DataFrame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118325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DuckDB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Permite consultas SQL em arquivos CSV e Parquet com alta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84078"/>
                  </a:ext>
                </a:extLst>
              </a:tr>
              <a:tr h="93186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Modulo </a:t>
                      </a:r>
                      <a:r>
                        <a:rPr lang="pt-BR" sz="2400" dirty="0" err="1">
                          <a:solidFill>
                            <a:schemeClr val="bg1"/>
                          </a:solidFill>
                          <a:highlight>
                            <a:srgbClr val="3774A7"/>
                          </a:highlight>
                          <a:latin typeface="Amasis MT Pro" panose="02040504050005020304" pitchFamily="18" charset="0"/>
                        </a:rPr>
                        <a:t>sql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 do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Jupyter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masis MT Pro" panose="02040504050005020304" pitchFamily="18" charset="0"/>
                        </a:rPr>
                        <a:t>Permite escrever queries com </a:t>
                      </a:r>
                      <a:r>
                        <a:rPr lang="pt-BR" sz="2400" kern="1200" dirty="0">
                          <a:solidFill>
                            <a:schemeClr val="bg1"/>
                          </a:solidFill>
                          <a:highlight>
                            <a:srgbClr val="3774A7"/>
                          </a:highlight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%%</a:t>
                      </a:r>
                      <a:r>
                        <a:rPr lang="pt-BR" sz="2400" kern="1200" dirty="0" err="1">
                          <a:solidFill>
                            <a:schemeClr val="bg1"/>
                          </a:solidFill>
                          <a:highlight>
                            <a:srgbClr val="3774A7"/>
                          </a:highlight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sql</a:t>
                      </a:r>
                      <a:r>
                        <a:rPr lang="pt-BR" sz="2400" kern="1200" dirty="0">
                          <a:solidFill>
                            <a:schemeClr val="bg1"/>
                          </a:solidFill>
                          <a:highlight>
                            <a:srgbClr val="3774A7"/>
                          </a:highlight>
                          <a:latin typeface="Amasis MT Pro" panose="02040504050005020304" pitchFamily="18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em notebooks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01639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47D7004-A3A2-9A6A-5A02-1F7F606C370F}"/>
              </a:ext>
            </a:extLst>
          </p:cNvPr>
          <p:cNvSpPr txBox="1"/>
          <p:nvPr/>
        </p:nvSpPr>
        <p:spPr>
          <a:xfrm>
            <a:off x="933450" y="5035496"/>
            <a:ext cx="6686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Formas comuns de usar SQL no Python: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0E23409-E2E6-43CE-376E-D27DE0660ADB}"/>
              </a:ext>
            </a:extLst>
          </p:cNvPr>
          <p:cNvSpPr txBox="1"/>
          <p:nvPr/>
        </p:nvSpPr>
        <p:spPr>
          <a:xfrm>
            <a:off x="819150" y="3429892"/>
            <a:ext cx="8241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masis MT Pro" panose="02040504050005020304" pitchFamily="18" charset="0"/>
              </a:rPr>
              <a:t>	A integração entre Python e SQL é fundamental para cessar e analisar dados armazenados em bancos.</a:t>
            </a:r>
          </a:p>
        </p:txBody>
      </p:sp>
    </p:spTree>
    <p:extLst>
      <p:ext uri="{BB962C8B-B14F-4D97-AF65-F5344CB8AC3E}">
        <p14:creationId xmlns:p14="http://schemas.microsoft.com/office/powerpoint/2010/main" val="279839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3B413-9404-C54C-5388-E10957EB6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E61DC8DD-8C61-7F67-BF2D-F4C4AA7653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17D2B2E-F140-686D-6BF1-D1542BC3CB5F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C803095-F2EB-CCE4-4D6F-E740808CB72B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1CE8D95-8184-83EB-0B44-81BEB03E7C60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26F8C3E-F41A-A07C-5CB3-5A9C52B33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69" y="3054496"/>
            <a:ext cx="7808261" cy="617104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2CE3FF6-B265-8754-D4BC-B93E9B04D0C7}"/>
              </a:ext>
            </a:extLst>
          </p:cNvPr>
          <p:cNvSpPr txBox="1"/>
          <p:nvPr/>
        </p:nvSpPr>
        <p:spPr>
          <a:xfrm>
            <a:off x="685800" y="2351238"/>
            <a:ext cx="6686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Exemplo: SQL com Pandas:</a:t>
            </a:r>
          </a:p>
        </p:txBody>
      </p:sp>
    </p:spTree>
    <p:extLst>
      <p:ext uri="{BB962C8B-B14F-4D97-AF65-F5344CB8AC3E}">
        <p14:creationId xmlns:p14="http://schemas.microsoft.com/office/powerpoint/2010/main" val="409586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DEF1-2AE3-C8A6-AEBB-EA8AA912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56D63D96-67E5-CE25-DB1A-FC6DDC7163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C74EA3-DC1C-D324-C648-31ECE5CCC9B0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9B307CE-B18E-9BEF-C679-72579F6C47D0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4ACA727-6101-C861-CC49-AD5B00B9A4A9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1329F67-5A42-81E3-09F3-3CF88B25ED0F}"/>
              </a:ext>
            </a:extLst>
          </p:cNvPr>
          <p:cNvSpPr txBox="1"/>
          <p:nvPr/>
        </p:nvSpPr>
        <p:spPr>
          <a:xfrm>
            <a:off x="628649" y="762000"/>
            <a:ext cx="65532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4. Pipeline simples de Data Science com Python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698470A-2919-E153-7ADC-EE4B0E79A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54268"/>
              </p:ext>
            </p:extLst>
          </p:nvPr>
        </p:nvGraphicFramePr>
        <p:xfrm>
          <a:off x="876300" y="4221659"/>
          <a:ext cx="8184090" cy="5151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184090">
                  <a:extLst>
                    <a:ext uri="{9D8B030D-6E8A-4147-A177-3AD203B41FA5}">
                      <a16:colId xmlns:a16="http://schemas.microsoft.com/office/drawing/2014/main" val="4290810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3200" b="1" dirty="0">
                          <a:latin typeface="Amasis MT Pro" panose="02040504050005020304" pitchFamily="18" charset="0"/>
                        </a:rPr>
                        <a:t>Etapas comuns do projeto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85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Amasis MT Pro" panose="02040504050005020304" pitchFamily="18" charset="0"/>
                        </a:rPr>
                        <a:t>1. Coleta e conexão com fontes de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masis MT Pro" panose="02040504050005020304" pitchFamily="18" charset="0"/>
                        </a:rPr>
                        <a:t>CSV, SQL, APIs, web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scraping</a:t>
                      </a:r>
                      <a:r>
                        <a:rPr lang="pt-BR" sz="2400" dirty="0">
                          <a:latin typeface="Amasis MT Pro" panose="02040504050005020304" pitchFamily="18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6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Amasis MT Pro" panose="02040504050005020304" pitchFamily="18" charset="0"/>
                        </a:rPr>
                        <a:t>2. Limpeza e transformação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17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masis MT Pro" panose="02040504050005020304" pitchFamily="18" charset="0"/>
                        </a:rPr>
                        <a:t>Tratamento de valores ausentes, padronizações, conversões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32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Amasis MT Pro" panose="02040504050005020304" pitchFamily="18" charset="0"/>
                        </a:rPr>
                        <a:t>3. Análise exploratória (EDA)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62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masis MT Pro" panose="02040504050005020304" pitchFamily="18" charset="0"/>
                        </a:rPr>
                        <a:t>Visualizações, correlações, estatísticas descritivas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66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Amasis MT Pro" panose="02040504050005020304" pitchFamily="18" charset="0"/>
                        </a:rPr>
                        <a:t>4. Modelagem (opcional)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16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masis MT Pro" panose="02040504050005020304" pitchFamily="18" charset="0"/>
                        </a:rPr>
                        <a:t>Modelos preditivos com </a:t>
                      </a:r>
                      <a:r>
                        <a:rPr lang="pt-BR" sz="2400" dirty="0" err="1">
                          <a:latin typeface="Amasis MT Pro" panose="02040504050005020304" pitchFamily="18" charset="0"/>
                        </a:rPr>
                        <a:t>scikit-learn</a:t>
                      </a:r>
                      <a:endParaRPr lang="pt-BR" sz="2400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21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Amasis MT Pro" panose="02040504050005020304" pitchFamily="18" charset="0"/>
                        </a:rPr>
                        <a:t>5. Apresentação e entrega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41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masis MT Pro" panose="02040504050005020304" pitchFamily="18" charset="0"/>
                        </a:rPr>
                        <a:t>Relatórios, dashboards, notebooks reprodutíveis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57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4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9C839-FF6B-2387-12DA-551A7D63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494FA96A-AAC1-679F-9835-51783AF172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9" y="404812"/>
            <a:ext cx="7509933" cy="42243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85EE8DB-71B3-0766-F623-6E0DF0B19046}"/>
              </a:ext>
            </a:extLst>
          </p:cNvPr>
          <p:cNvSpPr txBox="1"/>
          <p:nvPr/>
        </p:nvSpPr>
        <p:spPr>
          <a:xfrm>
            <a:off x="8546040" y="11671340"/>
            <a:ext cx="514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B2327"/>
                </a:solidFill>
                <a:latin typeface="Amasis MT Pro" panose="02040504050005020304" pitchFamily="18" charset="0"/>
              </a:rPr>
              <a:t>8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04C6428-D48D-B402-DEDF-602A1E3F9CD0}"/>
              </a:ext>
            </a:extLst>
          </p:cNvPr>
          <p:cNvSpPr/>
          <p:nvPr/>
        </p:nvSpPr>
        <p:spPr>
          <a:xfrm>
            <a:off x="-1143000" y="404812"/>
            <a:ext cx="4152900" cy="171450"/>
          </a:xfrm>
          <a:prstGeom prst="roundRect">
            <a:avLst/>
          </a:prstGeom>
          <a:solidFill>
            <a:srgbClr val="3774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D43DF6-81A7-409F-1ADE-DAFF82ED7A41}"/>
              </a:ext>
            </a:extLst>
          </p:cNvPr>
          <p:cNvSpPr/>
          <p:nvPr/>
        </p:nvSpPr>
        <p:spPr>
          <a:xfrm>
            <a:off x="6593414" y="12225338"/>
            <a:ext cx="4493685" cy="171450"/>
          </a:xfrm>
          <a:prstGeom prst="roundRect">
            <a:avLst/>
          </a:prstGeom>
          <a:solidFill>
            <a:srgbClr val="FFD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4A0107-831E-ABA2-E7B9-0F20DAEE6D23}"/>
              </a:ext>
            </a:extLst>
          </p:cNvPr>
          <p:cNvSpPr txBox="1"/>
          <p:nvPr/>
        </p:nvSpPr>
        <p:spPr>
          <a:xfrm>
            <a:off x="628649" y="762000"/>
            <a:ext cx="6686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4. Boas práticas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8169601-549E-7344-7566-5767D75431D7}"/>
              </a:ext>
            </a:extLst>
          </p:cNvPr>
          <p:cNvSpPr txBox="1"/>
          <p:nvPr/>
        </p:nvSpPr>
        <p:spPr>
          <a:xfrm>
            <a:off x="1150408" y="2224114"/>
            <a:ext cx="8241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Usar ambientes virtuais (</a:t>
            </a:r>
            <a:r>
              <a:rPr lang="pt-BR" sz="2800" dirty="0" err="1">
                <a:latin typeface="Amasis MT Pro" panose="02040504050005020304" pitchFamily="18" charset="0"/>
              </a:rPr>
              <a:t>venv</a:t>
            </a:r>
            <a:r>
              <a:rPr lang="pt-BR" sz="2800" dirty="0">
                <a:latin typeface="Amasis MT Pro" panose="02040504050005020304" pitchFamily="18" charset="0"/>
              </a:rPr>
              <a:t>/conda)</a:t>
            </a:r>
            <a:br>
              <a:rPr lang="pt-BR" sz="2800" dirty="0">
                <a:latin typeface="Amasis MT Pro" panose="02040504050005020304" pitchFamily="18" charset="0"/>
              </a:rPr>
            </a:br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Organização de pastas e scripts</a:t>
            </a:r>
            <a:br>
              <a:rPr lang="pt-BR" sz="2800" dirty="0">
                <a:latin typeface="Amasis MT Pro" panose="02040504050005020304" pitchFamily="18" charset="0"/>
              </a:rPr>
            </a:br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Documentação mínima do código</a:t>
            </a:r>
            <a:br>
              <a:rPr lang="pt-BR" sz="2800" dirty="0">
                <a:latin typeface="Amasis MT Pro" panose="02040504050005020304" pitchFamily="18" charset="0"/>
              </a:rPr>
            </a:br>
            <a:r>
              <a:rPr lang="pt-BR" sz="2800" dirty="0">
                <a:solidFill>
                  <a:srgbClr val="FFC000"/>
                </a:solidFill>
                <a:latin typeface="Amasis MT Pro" panose="02040504050005020304" pitchFamily="18" charset="0"/>
              </a:rPr>
              <a:t>✔ </a:t>
            </a:r>
            <a:r>
              <a:rPr lang="pt-BR" sz="2800" dirty="0">
                <a:latin typeface="Amasis MT Pro" panose="02040504050005020304" pitchFamily="18" charset="0"/>
              </a:rPr>
              <a:t>Versionamento com </a:t>
            </a:r>
            <a:r>
              <a:rPr lang="pt-BR" sz="2800" dirty="0" err="1">
                <a:latin typeface="Amasis MT Pro" panose="02040504050005020304" pitchFamily="18" charset="0"/>
              </a:rPr>
              <a:t>Git</a:t>
            </a:r>
            <a:r>
              <a:rPr lang="pt-BR" sz="2800" dirty="0">
                <a:latin typeface="Amasis MT Pro" panose="02040504050005020304" pitchFamily="18" charset="0"/>
              </a:rPr>
              <a:t> e GitHub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C385D8F-FF16-6D1F-4AAC-79866C0E963B}"/>
              </a:ext>
            </a:extLst>
          </p:cNvPr>
          <p:cNvSpPr txBox="1"/>
          <p:nvPr/>
        </p:nvSpPr>
        <p:spPr>
          <a:xfrm>
            <a:off x="628648" y="4814887"/>
            <a:ext cx="6686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5400" dirty="0">
                <a:solidFill>
                  <a:srgbClr val="0B23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" panose="02040504050005020304" pitchFamily="18" charset="0"/>
              </a:rPr>
              <a:t>CONCLUSÃO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D8E1DF-3928-D16E-6FC4-90C576339BEE}"/>
              </a:ext>
            </a:extLst>
          </p:cNvPr>
          <p:cNvSpPr txBox="1"/>
          <p:nvPr/>
        </p:nvSpPr>
        <p:spPr>
          <a:xfrm>
            <a:off x="666749" y="6103531"/>
            <a:ext cx="876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Amasis MT Pro" panose="02040504050005020304" pitchFamily="18" charset="0"/>
              </a:rPr>
              <a:t>	Python é uma ferramenta completa para Ciência de Dados, permitindo ir do SQL até a modelagem e visualização de forma integrada.</a:t>
            </a:r>
          </a:p>
          <a:p>
            <a:endParaRPr lang="pt-BR" sz="2800" dirty="0">
              <a:latin typeface="Amasis MT Pro" panose="02040504050005020304" pitchFamily="18" charset="0"/>
            </a:endParaRPr>
          </a:p>
          <a:p>
            <a:r>
              <a:rPr lang="pt-BR" sz="2800" dirty="0">
                <a:latin typeface="Amasis MT Pro" panose="02040504050005020304" pitchFamily="18" charset="0"/>
              </a:rPr>
              <a:t>	Dominar os pacotes certos e entender o fluxo de análise de dados torna seu trabalho mais eficiente e suas entregas mais profissionais.</a:t>
            </a:r>
          </a:p>
          <a:p>
            <a:pPr algn="just"/>
            <a:endParaRPr lang="pt-BR" sz="28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01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541</Words>
  <Application>Microsoft Office PowerPoint</Application>
  <PresentationFormat>Papel A3 (297 x 420 mm)</PresentationFormat>
  <Paragraphs>89</Paragraphs>
  <Slides>10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Amasis MT Pro</vt:lpstr>
      <vt:lpstr>Amasis MT Pro Black</vt:lpstr>
      <vt:lpstr>Amasis MT Pro Light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Bahia da Silva</dc:creator>
  <cp:lastModifiedBy>Sergio Bahia da Silva</cp:lastModifiedBy>
  <cp:revision>10</cp:revision>
  <cp:lastPrinted>2025-11-17T02:44:13Z</cp:lastPrinted>
  <dcterms:created xsi:type="dcterms:W3CDTF">2025-11-17T02:27:27Z</dcterms:created>
  <dcterms:modified xsi:type="dcterms:W3CDTF">2025-11-17T04:38:01Z</dcterms:modified>
</cp:coreProperties>
</file>